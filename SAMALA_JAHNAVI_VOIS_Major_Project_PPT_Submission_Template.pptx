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9" d="100"/>
          <a:sy n="79" d="100"/>
        </p:scale>
        <p:origin x="677"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JAHNAVI-SAMALA/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57406" y="4058836"/>
            <a:ext cx="8861898" cy="861497"/>
          </a:xfrm>
        </p:spPr>
        <p:txBody>
          <a:bodyPr vert="horz" lIns="91440" tIns="45720" rIns="91440" bIns="45720" rtlCol="0" anchor="t">
            <a:normAutofit/>
          </a:bodyPr>
          <a:lstStyle/>
          <a:p>
            <a:r>
              <a:rPr lang="en-US" dirty="0">
                <a:solidFill>
                  <a:schemeClr val="tx1"/>
                </a:solidFill>
              </a:rPr>
              <a:t>Student Name</a:t>
            </a:r>
            <a:r>
              <a:rPr lang="en-US" b="0" dirty="0">
                <a:solidFill>
                  <a:schemeClr val="tx1"/>
                </a:solidFill>
              </a:rPr>
              <a:t>:  Samala Jahnavi </a:t>
            </a:r>
          </a:p>
          <a:p>
            <a:r>
              <a:rPr lang="en-US" dirty="0">
                <a:solidFill>
                  <a:schemeClr val="tx1"/>
                </a:solidFill>
              </a:rPr>
              <a:t>College Name</a:t>
            </a:r>
            <a:r>
              <a:rPr lang="en-US" b="0" dirty="0">
                <a:solidFill>
                  <a:schemeClr val="tx1"/>
                </a:solidFill>
              </a:rPr>
              <a:t>:  Sridevi Women’s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57405" y="2685552"/>
            <a:ext cx="10842245" cy="743448"/>
          </a:xfrm>
        </p:spPr>
        <p:txBody>
          <a:bodyPr>
            <a:normAutofit fontScale="90000"/>
          </a:bodyPr>
          <a:lstStyle/>
          <a:p>
            <a:pPr>
              <a:lnSpc>
                <a:spcPct val="150000"/>
              </a:lnSpc>
            </a:pPr>
            <a:r>
              <a:rPr lang="en-GB" sz="3200" dirty="0"/>
              <a:t>Project Title – </a:t>
            </a:r>
            <a:br>
              <a:rPr lang="en-GB" sz="3200" dirty="0"/>
            </a:br>
            <a:r>
              <a:rPr lang="en-IN" sz="3200" dirty="0"/>
              <a:t>FarmStats -SEASONAL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920333"/>
            <a:ext cx="6902543" cy="369332"/>
          </a:xfrm>
          <a:prstGeom prst="rect">
            <a:avLst/>
          </a:prstGeom>
          <a:noFill/>
        </p:spPr>
        <p:txBody>
          <a:bodyPr wrap="square" rtlCol="0">
            <a:spAutoFit/>
          </a:bodyPr>
          <a:lstStyle/>
          <a:p>
            <a:r>
              <a:rPr lang="en-US" b="1" dirty="0"/>
              <a:t>AICTE STU ID :  </a:t>
            </a:r>
            <a:r>
              <a:rPr lang="en-IN" dirty="0"/>
              <a:t>STU6809cae2dda7e1745472226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102230"/>
            <a:ext cx="7854329" cy="3607987"/>
          </a:xfrm>
        </p:spPr>
        <p:txBody>
          <a:bodyPr vert="horz" lIns="91440" tIns="45720" rIns="91440" bIns="45720" rtlCol="0" anchor="t">
            <a:normAutofit/>
          </a:bodyPr>
          <a:lstStyle/>
          <a:p>
            <a:r>
              <a:rPr lang="en-IN" sz="2400" dirty="0"/>
              <a:t>Agricultural performance varies across seasons due to differences in environmental conditions, farming practices, resource usage and market conditions. This project analyses agricultural data to identify seasonal patterns, trends, relationships and variations in yield, profitability and resource utilization.</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1544515"/>
            <a:ext cx="8386324" cy="4301808"/>
          </a:xfrm>
        </p:spPr>
        <p:txBody>
          <a:bodyPr>
            <a:noAutofit/>
          </a:bodyPr>
          <a:lstStyle/>
          <a:p>
            <a:br>
              <a:rPr lang="en-GB" sz="2800" b="0" dirty="0"/>
            </a:br>
            <a:r>
              <a:rPr lang="en-IN" sz="2400" b="0" dirty="0"/>
              <a:t>Seasonal Agriculture Performance Analysis is a data-driven study of agricultural performance across Kharif, Rabi and Zaid seasons. The project involves data cleaning, exploratory analysis, statistical analysis and visualization to study crop yield, production, profitability, environmental conditions, resource utilization and irrigation practices. The analysis identifies high-performing crop-season combinations and provides evidence-based recommendations for better agricultural planning</a:t>
            </a:r>
            <a:r>
              <a:rPr lang="en-IN" sz="2800" b="0" dirty="0"/>
              <a:t>.</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4F616A5B-0191-0467-EEEC-84B49A229F06}"/>
              </a:ext>
            </a:extLst>
          </p:cNvPr>
          <p:cNvSpPr txBox="1"/>
          <p:nvPr/>
        </p:nvSpPr>
        <p:spPr>
          <a:xfrm>
            <a:off x="675957" y="502010"/>
            <a:ext cx="6099242" cy="769441"/>
          </a:xfrm>
          <a:prstGeom prst="rect">
            <a:avLst/>
          </a:prstGeom>
          <a:noFill/>
        </p:spPr>
        <p:txBody>
          <a:bodyPr wrap="square">
            <a:spAutoFit/>
          </a:bodyPr>
          <a:lstStyle/>
          <a:p>
            <a:r>
              <a:rPr lang="en-GB" sz="4400" dirty="0"/>
              <a:t>Project Description</a:t>
            </a:r>
            <a:endParaRPr lang="en-IN" sz="44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9755330" cy="3076751"/>
          </a:xfrm>
        </p:spPr>
        <p:txBody>
          <a:bodyPr>
            <a:normAutofit/>
          </a:bodyPr>
          <a:lstStyle/>
          <a:p>
            <a:pPr lvl="0"/>
            <a:r>
              <a:rPr lang="en-IN" sz="2400" b="1" dirty="0"/>
              <a:t>Farmers</a:t>
            </a:r>
            <a:r>
              <a:rPr lang="en-IN" sz="2400" dirty="0"/>
              <a:t> – for crop and seasonal planning </a:t>
            </a:r>
          </a:p>
          <a:p>
            <a:pPr lvl="0"/>
            <a:r>
              <a:rPr lang="en-IN" sz="2400" b="1" dirty="0"/>
              <a:t>Agricultural Planners</a:t>
            </a:r>
            <a:r>
              <a:rPr lang="en-IN" sz="2400" dirty="0"/>
              <a:t> – for resource allocation </a:t>
            </a:r>
          </a:p>
          <a:p>
            <a:pPr lvl="0"/>
            <a:r>
              <a:rPr lang="en-IN" sz="2400" b="1" dirty="0"/>
              <a:t>Agricultural Researchers</a:t>
            </a:r>
            <a:r>
              <a:rPr lang="en-IN" sz="2400" dirty="0"/>
              <a:t> – for identifying trends and relationships </a:t>
            </a:r>
          </a:p>
          <a:p>
            <a:pPr lvl="0"/>
            <a:r>
              <a:rPr lang="en-IN" sz="2400" b="1" dirty="0"/>
              <a:t>Government Agencies</a:t>
            </a:r>
            <a:r>
              <a:rPr lang="en-IN" sz="2400" dirty="0"/>
              <a:t> – for agricultural policy and planning </a:t>
            </a:r>
          </a:p>
          <a:p>
            <a:pPr lvl="0"/>
            <a:r>
              <a:rPr lang="en-IN" sz="2400" b="1" dirty="0"/>
              <a:t>Agribusinesses</a:t>
            </a:r>
            <a:r>
              <a:rPr lang="en-IN" sz="2400" dirty="0"/>
              <a:t> – for understanding crop profitability </a:t>
            </a:r>
          </a:p>
          <a:p>
            <a:pPr algn="just">
              <a:lnSpc>
                <a:spcPct val="150000"/>
              </a:lnSpc>
            </a:pPr>
            <a:endParaRPr lang="en-IN" sz="24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358165"/>
            <a:ext cx="9027702" cy="5243448"/>
          </a:xfrm>
        </p:spPr>
        <p:txBody>
          <a:bodyPr numCol="2">
            <a:noAutofit/>
          </a:bodyPr>
          <a:lstStyle/>
          <a:p>
            <a:pPr marL="0" indent="0">
              <a:buNone/>
            </a:pPr>
            <a:r>
              <a:rPr lang="en-IN" b="1" dirty="0"/>
              <a:t>Programming Language</a:t>
            </a:r>
            <a:endParaRPr lang="en-IN" dirty="0"/>
          </a:p>
          <a:p>
            <a:pPr lvl="0"/>
            <a:r>
              <a:rPr lang="en-IN" dirty="0"/>
              <a:t>Python </a:t>
            </a:r>
          </a:p>
          <a:p>
            <a:pPr marL="0" lvl="0" indent="0">
              <a:buNone/>
            </a:pPr>
            <a:endParaRPr lang="en-IN" dirty="0"/>
          </a:p>
          <a:p>
            <a:pPr marL="0" indent="0">
              <a:buNone/>
            </a:pPr>
            <a:r>
              <a:rPr lang="en-IN" b="1" dirty="0"/>
              <a:t>Libraries</a:t>
            </a:r>
            <a:endParaRPr lang="en-IN" dirty="0"/>
          </a:p>
          <a:p>
            <a:pPr lvl="0"/>
            <a:r>
              <a:rPr lang="en-IN" dirty="0"/>
              <a:t>Pandas </a:t>
            </a:r>
          </a:p>
          <a:p>
            <a:pPr lvl="0"/>
            <a:r>
              <a:rPr lang="en-IN" dirty="0"/>
              <a:t>NumPy </a:t>
            </a:r>
          </a:p>
          <a:p>
            <a:pPr lvl="0"/>
            <a:r>
              <a:rPr lang="en-IN" dirty="0"/>
              <a:t>Matplotlib </a:t>
            </a:r>
          </a:p>
          <a:p>
            <a:pPr lvl="0"/>
            <a:r>
              <a:rPr lang="en-IN" dirty="0"/>
              <a:t>Seaborn </a:t>
            </a:r>
          </a:p>
          <a:p>
            <a:pPr lvl="0"/>
            <a:endParaRPr lang="en-IN" dirty="0"/>
          </a:p>
          <a:p>
            <a:pPr lvl="0"/>
            <a:endParaRPr lang="en-IN" dirty="0"/>
          </a:p>
          <a:p>
            <a:pPr marL="0" lvl="0" indent="0">
              <a:buNone/>
            </a:pPr>
            <a:endParaRPr lang="en-IN" dirty="0"/>
          </a:p>
          <a:p>
            <a:pPr marL="0" indent="0">
              <a:buNone/>
            </a:pPr>
            <a:r>
              <a:rPr lang="en-IN" b="1" dirty="0"/>
              <a:t>Environment</a:t>
            </a:r>
            <a:endParaRPr lang="en-IN" dirty="0"/>
          </a:p>
          <a:p>
            <a:pPr lvl="0"/>
            <a:r>
              <a:rPr lang="en-IN" dirty="0"/>
              <a:t>Jupyter Notebook </a:t>
            </a:r>
          </a:p>
          <a:p>
            <a:pPr marL="0" lvl="0" indent="0">
              <a:buNone/>
            </a:pPr>
            <a:endParaRPr lang="en-IN" dirty="0"/>
          </a:p>
          <a:p>
            <a:pPr marL="0" indent="0">
              <a:buNone/>
            </a:pPr>
            <a:r>
              <a:rPr lang="en-IN" b="1" dirty="0"/>
              <a:t>Techniques</a:t>
            </a:r>
            <a:endParaRPr lang="en-IN" dirty="0"/>
          </a:p>
          <a:p>
            <a:pPr lvl="0"/>
            <a:r>
              <a:rPr lang="en-IN" dirty="0"/>
              <a:t>Data Cleaning </a:t>
            </a:r>
          </a:p>
          <a:p>
            <a:pPr lvl="0"/>
            <a:r>
              <a:rPr lang="en-IN" dirty="0"/>
              <a:t>Exploratory Data Analysis </a:t>
            </a:r>
          </a:p>
          <a:p>
            <a:pPr lvl="0"/>
            <a:r>
              <a:rPr lang="en-IN" dirty="0"/>
              <a:t>Statistical Analysis </a:t>
            </a:r>
          </a:p>
          <a:p>
            <a:pPr lvl="0"/>
            <a:r>
              <a:rPr lang="en-IN" dirty="0"/>
              <a:t>Correlation Analysis </a:t>
            </a:r>
          </a:p>
          <a:p>
            <a:pPr lvl="0"/>
            <a:r>
              <a:rPr lang="en-IN" dirty="0"/>
              <a:t>Data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7" end="7"/>
                                            </p:txEl>
                                          </p:spTgt>
                                        </p:tgtEl>
                                        <p:attrNameLst>
                                          <p:attrName>style.visibility</p:attrName>
                                        </p:attrNameLst>
                                      </p:cBhvr>
                                      <p:to>
                                        <p:strVal val="visible"/>
                                      </p:to>
                                    </p:set>
                                    <p:animEffect transition="in" filter="fade">
                                      <p:cBhvr>
                                        <p:cTn id="56" dur="1000"/>
                                        <p:tgtEl>
                                          <p:spTgt spid="7">
                                            <p:txEl>
                                              <p:pRg st="7" end="7"/>
                                            </p:txEl>
                                          </p:spTgt>
                                        </p:tgtEl>
                                      </p:cBhvr>
                                    </p:animEffect>
                                    <p:anim calcmode="lin" valueType="num">
                                      <p:cBhvr>
                                        <p:cTn id="5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11" end="11"/>
                                            </p:txEl>
                                          </p:spTgt>
                                        </p:tgtEl>
                                        <p:attrNameLst>
                                          <p:attrName>style.visibility</p:attrName>
                                        </p:attrNameLst>
                                      </p:cBhvr>
                                      <p:to>
                                        <p:strVal val="visible"/>
                                      </p:to>
                                    </p:set>
                                    <p:animEffect transition="in" filter="fade">
                                      <p:cBhvr>
                                        <p:cTn id="63" dur="1000"/>
                                        <p:tgtEl>
                                          <p:spTgt spid="7">
                                            <p:txEl>
                                              <p:pRg st="11" end="11"/>
                                            </p:txEl>
                                          </p:spTgt>
                                        </p:tgtEl>
                                      </p:cBhvr>
                                    </p:animEffect>
                                    <p:anim calcmode="lin" valueType="num">
                                      <p:cBhvr>
                                        <p:cTn id="64"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12" end="12"/>
                                            </p:txEl>
                                          </p:spTgt>
                                        </p:tgtEl>
                                        <p:attrNameLst>
                                          <p:attrName>style.visibility</p:attrName>
                                        </p:attrNameLst>
                                      </p:cBhvr>
                                      <p:to>
                                        <p:strVal val="visible"/>
                                      </p:to>
                                    </p:set>
                                    <p:animEffect transition="in" filter="fade">
                                      <p:cBhvr>
                                        <p:cTn id="70" dur="1000"/>
                                        <p:tgtEl>
                                          <p:spTgt spid="7">
                                            <p:txEl>
                                              <p:pRg st="12" end="12"/>
                                            </p:txEl>
                                          </p:spTgt>
                                        </p:tgtEl>
                                      </p:cBhvr>
                                    </p:animEffect>
                                    <p:anim calcmode="lin" valueType="num">
                                      <p:cBhvr>
                                        <p:cTn id="71"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14" end="14"/>
                                            </p:txEl>
                                          </p:spTgt>
                                        </p:tgtEl>
                                        <p:attrNameLst>
                                          <p:attrName>style.visibility</p:attrName>
                                        </p:attrNameLst>
                                      </p:cBhvr>
                                      <p:to>
                                        <p:strVal val="visible"/>
                                      </p:to>
                                    </p:set>
                                    <p:animEffect transition="in" filter="fade">
                                      <p:cBhvr>
                                        <p:cTn id="77" dur="1000"/>
                                        <p:tgtEl>
                                          <p:spTgt spid="7">
                                            <p:txEl>
                                              <p:pRg st="14" end="14"/>
                                            </p:txEl>
                                          </p:spTgt>
                                        </p:tgtEl>
                                      </p:cBhvr>
                                    </p:animEffect>
                                    <p:anim calcmode="lin" valueType="num">
                                      <p:cBhvr>
                                        <p:cTn id="78"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5" end="15"/>
                                            </p:txEl>
                                          </p:spTgt>
                                        </p:tgtEl>
                                        <p:attrNameLst>
                                          <p:attrName>style.visibility</p:attrName>
                                        </p:attrNameLst>
                                      </p:cBhvr>
                                      <p:to>
                                        <p:strVal val="visible"/>
                                      </p:to>
                                    </p:set>
                                    <p:animEffect transition="in" filter="fade">
                                      <p:cBhvr>
                                        <p:cTn id="84" dur="1000"/>
                                        <p:tgtEl>
                                          <p:spTgt spid="7">
                                            <p:txEl>
                                              <p:pRg st="15" end="15"/>
                                            </p:txEl>
                                          </p:spTgt>
                                        </p:tgtEl>
                                      </p:cBhvr>
                                    </p:animEffect>
                                    <p:anim calcmode="lin" valueType="num">
                                      <p:cBhvr>
                                        <p:cTn id="85"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6" end="16"/>
                                            </p:txEl>
                                          </p:spTgt>
                                        </p:tgtEl>
                                        <p:attrNameLst>
                                          <p:attrName>style.visibility</p:attrName>
                                        </p:attrNameLst>
                                      </p:cBhvr>
                                      <p:to>
                                        <p:strVal val="visible"/>
                                      </p:to>
                                    </p:set>
                                    <p:animEffect transition="in" filter="fade">
                                      <p:cBhvr>
                                        <p:cTn id="91" dur="1000"/>
                                        <p:tgtEl>
                                          <p:spTgt spid="7">
                                            <p:txEl>
                                              <p:pRg st="16" end="16"/>
                                            </p:txEl>
                                          </p:spTgt>
                                        </p:tgtEl>
                                      </p:cBhvr>
                                    </p:animEffect>
                                    <p:anim calcmode="lin" valueType="num">
                                      <p:cBhvr>
                                        <p:cTn id="92" dur="1000" fill="hold"/>
                                        <p:tgtEl>
                                          <p:spTgt spid="7">
                                            <p:txEl>
                                              <p:pRg st="16" end="16"/>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7">
                                            <p:txEl>
                                              <p:pRg st="17" end="17"/>
                                            </p:txEl>
                                          </p:spTgt>
                                        </p:tgtEl>
                                        <p:attrNameLst>
                                          <p:attrName>style.visibility</p:attrName>
                                        </p:attrNameLst>
                                      </p:cBhvr>
                                      <p:to>
                                        <p:strVal val="visible"/>
                                      </p:to>
                                    </p:set>
                                    <p:animEffect transition="in" filter="fade">
                                      <p:cBhvr>
                                        <p:cTn id="98" dur="1000"/>
                                        <p:tgtEl>
                                          <p:spTgt spid="7">
                                            <p:txEl>
                                              <p:pRg st="17" end="17"/>
                                            </p:txEl>
                                          </p:spTgt>
                                        </p:tgtEl>
                                      </p:cBhvr>
                                    </p:animEffect>
                                    <p:anim calcmode="lin" valueType="num">
                                      <p:cBhvr>
                                        <p:cTn id="99" dur="1000" fill="hold"/>
                                        <p:tgtEl>
                                          <p:spTgt spid="7">
                                            <p:txEl>
                                              <p:pRg st="17" end="17"/>
                                            </p:txEl>
                                          </p:spTgt>
                                        </p:tgtEl>
                                        <p:attrNameLst>
                                          <p:attrName>ppt_x</p:attrName>
                                        </p:attrNameLst>
                                      </p:cBhvr>
                                      <p:tavLst>
                                        <p:tav tm="0">
                                          <p:val>
                                            <p:strVal val="#ppt_x"/>
                                          </p:val>
                                        </p:tav>
                                        <p:tav tm="100000">
                                          <p:val>
                                            <p:strVal val="#ppt_x"/>
                                          </p:val>
                                        </p:tav>
                                      </p:tavLst>
                                    </p:anim>
                                    <p:anim calcmode="lin" valueType="num">
                                      <p:cBhvr>
                                        <p:cTn id="100" dur="1000" fill="hold"/>
                                        <p:tgtEl>
                                          <p:spTgt spid="7">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7">
                                            <p:txEl>
                                              <p:pRg st="18" end="18"/>
                                            </p:txEl>
                                          </p:spTgt>
                                        </p:tgtEl>
                                        <p:attrNameLst>
                                          <p:attrName>style.visibility</p:attrName>
                                        </p:attrNameLst>
                                      </p:cBhvr>
                                      <p:to>
                                        <p:strVal val="visible"/>
                                      </p:to>
                                    </p:set>
                                    <p:animEffect transition="in" filter="fade">
                                      <p:cBhvr>
                                        <p:cTn id="105" dur="1000"/>
                                        <p:tgtEl>
                                          <p:spTgt spid="7">
                                            <p:txEl>
                                              <p:pRg st="18" end="18"/>
                                            </p:txEl>
                                          </p:spTgt>
                                        </p:tgtEl>
                                      </p:cBhvr>
                                    </p:animEffect>
                                    <p:anim calcmode="lin" valueType="num">
                                      <p:cBhvr>
                                        <p:cTn id="106" dur="1000" fill="hold"/>
                                        <p:tgtEl>
                                          <p:spTgt spid="7">
                                            <p:txEl>
                                              <p:pRg st="18" end="18"/>
                                            </p:txEl>
                                          </p:spTgt>
                                        </p:tgtEl>
                                        <p:attrNameLst>
                                          <p:attrName>ppt_x</p:attrName>
                                        </p:attrNameLst>
                                      </p:cBhvr>
                                      <p:tavLst>
                                        <p:tav tm="0">
                                          <p:val>
                                            <p:strVal val="#ppt_x"/>
                                          </p:val>
                                        </p:tav>
                                        <p:tav tm="100000">
                                          <p:val>
                                            <p:strVal val="#ppt_x"/>
                                          </p:val>
                                        </p:tav>
                                      </p:tavLst>
                                    </p:anim>
                                    <p:anim calcmode="lin" valueType="num">
                                      <p:cBhvr>
                                        <p:cTn id="107" dur="1000" fill="hold"/>
                                        <p:tgtEl>
                                          <p:spTgt spid="7">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7">
                                            <p:txEl>
                                              <p:pRg st="19" end="19"/>
                                            </p:txEl>
                                          </p:spTgt>
                                        </p:tgtEl>
                                        <p:attrNameLst>
                                          <p:attrName>style.visibility</p:attrName>
                                        </p:attrNameLst>
                                      </p:cBhvr>
                                      <p:to>
                                        <p:strVal val="visible"/>
                                      </p:to>
                                    </p:set>
                                    <p:animEffect transition="in" filter="fade">
                                      <p:cBhvr>
                                        <p:cTn id="112" dur="1000"/>
                                        <p:tgtEl>
                                          <p:spTgt spid="7">
                                            <p:txEl>
                                              <p:pRg st="19" end="19"/>
                                            </p:txEl>
                                          </p:spTgt>
                                        </p:tgtEl>
                                      </p:cBhvr>
                                    </p:animEffect>
                                    <p:anim calcmode="lin" valueType="num">
                                      <p:cBhvr>
                                        <p:cTn id="113" dur="1000" fill="hold"/>
                                        <p:tgtEl>
                                          <p:spTgt spid="7">
                                            <p:txEl>
                                              <p:pRg st="19" end="19"/>
                                            </p:txEl>
                                          </p:spTgt>
                                        </p:tgtEl>
                                        <p:attrNameLst>
                                          <p:attrName>ppt_x</p:attrName>
                                        </p:attrNameLst>
                                      </p:cBhvr>
                                      <p:tavLst>
                                        <p:tav tm="0">
                                          <p:val>
                                            <p:strVal val="#ppt_x"/>
                                          </p:val>
                                        </p:tav>
                                        <p:tav tm="100000">
                                          <p:val>
                                            <p:strVal val="#ppt_x"/>
                                          </p:val>
                                        </p:tav>
                                      </p:tavLst>
                                    </p:anim>
                                    <p:anim calcmode="lin" valueType="num">
                                      <p:cBhvr>
                                        <p:cTn id="114" dur="1000" fill="hold"/>
                                        <p:tgtEl>
                                          <p:spTgt spid="7">
                                            <p:txEl>
                                              <p:pRg st="19" end="1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4776312"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2000" b="1" dirty="0"/>
              <a:t>Seasonal Performance</a:t>
            </a:r>
            <a:endParaRPr lang="en-GB" sz="2000" b="1"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6CD743D-BFEC-04E8-298F-64D695D8DD57}"/>
              </a:ext>
            </a:extLst>
          </p:cNvPr>
          <p:cNvPicPr>
            <a:picLocks noChangeAspect="1"/>
          </p:cNvPicPr>
          <p:nvPr/>
        </p:nvPicPr>
        <p:blipFill>
          <a:blip r:embed="rId3"/>
          <a:stretch>
            <a:fillRect/>
          </a:stretch>
        </p:blipFill>
        <p:spPr>
          <a:xfrm>
            <a:off x="388091" y="1830743"/>
            <a:ext cx="4861981" cy="2903982"/>
          </a:xfrm>
          <a:prstGeom prst="rect">
            <a:avLst/>
          </a:prstGeom>
          <a:ln>
            <a:solidFill>
              <a:schemeClr val="tx1"/>
            </a:solidFill>
          </a:ln>
        </p:spPr>
      </p:pic>
      <p:pic>
        <p:nvPicPr>
          <p:cNvPr id="10" name="Picture 9">
            <a:extLst>
              <a:ext uri="{FF2B5EF4-FFF2-40B4-BE49-F238E27FC236}">
                <a16:creationId xmlns:a16="http://schemas.microsoft.com/office/drawing/2014/main" id="{EADFBEBB-3B34-69C1-A359-CA563C3B5083}"/>
              </a:ext>
            </a:extLst>
          </p:cNvPr>
          <p:cNvPicPr>
            <a:picLocks noChangeAspect="1"/>
          </p:cNvPicPr>
          <p:nvPr/>
        </p:nvPicPr>
        <p:blipFill>
          <a:blip r:embed="rId4"/>
          <a:stretch>
            <a:fillRect/>
          </a:stretch>
        </p:blipFill>
        <p:spPr>
          <a:xfrm>
            <a:off x="5502930" y="1830742"/>
            <a:ext cx="4681930" cy="2903982"/>
          </a:xfrm>
          <a:prstGeom prst="rect">
            <a:avLst/>
          </a:prstGeom>
          <a:ln>
            <a:solidFill>
              <a:schemeClr val="tx1"/>
            </a:solidFill>
          </a:ln>
        </p:spPr>
      </p:pic>
      <p:sp>
        <p:nvSpPr>
          <p:cNvPr id="12" name="TextBox 11">
            <a:extLst>
              <a:ext uri="{FF2B5EF4-FFF2-40B4-BE49-F238E27FC236}">
                <a16:creationId xmlns:a16="http://schemas.microsoft.com/office/drawing/2014/main" id="{E7D2B4DF-EDB0-0BED-8B80-3B17B063E84E}"/>
              </a:ext>
            </a:extLst>
          </p:cNvPr>
          <p:cNvSpPr txBox="1"/>
          <p:nvPr/>
        </p:nvSpPr>
        <p:spPr>
          <a:xfrm>
            <a:off x="675956" y="5120964"/>
            <a:ext cx="8341583" cy="646331"/>
          </a:xfrm>
          <a:prstGeom prst="rect">
            <a:avLst/>
          </a:prstGeom>
          <a:noFill/>
        </p:spPr>
        <p:txBody>
          <a:bodyPr wrap="square">
            <a:spAutoFit/>
          </a:bodyPr>
          <a:lstStyle/>
          <a:p>
            <a:r>
              <a:rPr lang="en-IN" dirty="0"/>
              <a:t>Kharif achieved the highest average yield of </a:t>
            </a:r>
            <a:r>
              <a:rPr lang="en-IN" b="1" dirty="0"/>
              <a:t>5.63 tonnes/ha</a:t>
            </a:r>
            <a:r>
              <a:rPr lang="en-IN" dirty="0"/>
              <a:t>, followed by Rabi at </a:t>
            </a:r>
            <a:r>
              <a:rPr lang="en-IN" b="1" dirty="0"/>
              <a:t>5.09 tonnes/ha</a:t>
            </a:r>
            <a:r>
              <a:rPr lang="en-IN" dirty="0"/>
              <a:t> and Zaid at </a:t>
            </a:r>
            <a:r>
              <a:rPr lang="en-IN" b="1" dirty="0"/>
              <a:t>4.63 tonnes/ha</a:t>
            </a:r>
            <a:r>
              <a:rPr lang="en-IN" dirty="0"/>
              <a: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50113" y="1305176"/>
            <a:ext cx="4275138" cy="477520"/>
          </a:xfrm>
        </p:spPr>
        <p:txBody>
          <a:bodyPr/>
          <a:lstStyle/>
          <a:p>
            <a:pPr marL="0" indent="0">
              <a:buNone/>
            </a:pPr>
            <a:r>
              <a:rPr lang="en-IN" b="1" dirty="0"/>
              <a:t>Seasonal Profitability</a:t>
            </a:r>
          </a:p>
        </p:txBody>
      </p:sp>
      <p:pic>
        <p:nvPicPr>
          <p:cNvPr id="3" name="Picture 2">
            <a:extLst>
              <a:ext uri="{FF2B5EF4-FFF2-40B4-BE49-F238E27FC236}">
                <a16:creationId xmlns:a16="http://schemas.microsoft.com/office/drawing/2014/main" id="{1484BBF5-273A-36EF-D51E-1403418210B8}"/>
              </a:ext>
            </a:extLst>
          </p:cNvPr>
          <p:cNvPicPr>
            <a:picLocks noChangeAspect="1"/>
          </p:cNvPicPr>
          <p:nvPr/>
        </p:nvPicPr>
        <p:blipFill>
          <a:blip r:embed="rId3"/>
          <a:stretch>
            <a:fillRect/>
          </a:stretch>
        </p:blipFill>
        <p:spPr>
          <a:xfrm>
            <a:off x="675957" y="1812500"/>
            <a:ext cx="5006774" cy="3447007"/>
          </a:xfrm>
          <a:prstGeom prst="rect">
            <a:avLst/>
          </a:prstGeom>
        </p:spPr>
      </p:pic>
      <p:pic>
        <p:nvPicPr>
          <p:cNvPr id="6" name="Picture 5">
            <a:extLst>
              <a:ext uri="{FF2B5EF4-FFF2-40B4-BE49-F238E27FC236}">
                <a16:creationId xmlns:a16="http://schemas.microsoft.com/office/drawing/2014/main" id="{8F560252-29E9-F1D2-F729-63937DB5905E}"/>
              </a:ext>
            </a:extLst>
          </p:cNvPr>
          <p:cNvPicPr>
            <a:picLocks noChangeAspect="1"/>
          </p:cNvPicPr>
          <p:nvPr/>
        </p:nvPicPr>
        <p:blipFill>
          <a:blip r:embed="rId4"/>
          <a:stretch>
            <a:fillRect/>
          </a:stretch>
        </p:blipFill>
        <p:spPr>
          <a:xfrm>
            <a:off x="5856600" y="1812500"/>
            <a:ext cx="5557419" cy="3447007"/>
          </a:xfrm>
          <a:prstGeom prst="rect">
            <a:avLst/>
          </a:prstGeom>
          <a:ln>
            <a:solidFill>
              <a:schemeClr val="tx1"/>
            </a:solidFill>
          </a:ln>
        </p:spPr>
      </p:pic>
      <p:sp>
        <p:nvSpPr>
          <p:cNvPr id="11" name="TextBox 10">
            <a:extLst>
              <a:ext uri="{FF2B5EF4-FFF2-40B4-BE49-F238E27FC236}">
                <a16:creationId xmlns:a16="http://schemas.microsoft.com/office/drawing/2014/main" id="{FB86491B-071E-7191-D373-5F7863D2FD32}"/>
              </a:ext>
            </a:extLst>
          </p:cNvPr>
          <p:cNvSpPr txBox="1"/>
          <p:nvPr/>
        </p:nvSpPr>
        <p:spPr>
          <a:xfrm>
            <a:off x="539884" y="5582629"/>
            <a:ext cx="8993221" cy="646331"/>
          </a:xfrm>
          <a:prstGeom prst="rect">
            <a:avLst/>
          </a:prstGeom>
          <a:noFill/>
        </p:spPr>
        <p:txBody>
          <a:bodyPr wrap="square">
            <a:spAutoFit/>
          </a:bodyPr>
          <a:lstStyle/>
          <a:p>
            <a:r>
              <a:rPr lang="en-IN" dirty="0"/>
              <a:t>Kharif recorded the highest average profit of </a:t>
            </a:r>
            <a:r>
              <a:rPr lang="en-IN" b="1" dirty="0"/>
              <a:t>₹1.79 lakh</a:t>
            </a:r>
            <a:r>
              <a:rPr lang="en-IN" dirty="0"/>
              <a:t>, while Zaid recorded a negative average profit of </a:t>
            </a:r>
            <a:r>
              <a:rPr lang="en-IN" b="1" dirty="0"/>
              <a:t>₹24,805</a:t>
            </a:r>
            <a:r>
              <a:rPr lang="en-IN" dirty="0"/>
              <a: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IN" b="1" dirty="0"/>
              <a:t>Crop Profitability</a:t>
            </a:r>
            <a:endParaRPr lang="en-IN" dirty="0"/>
          </a:p>
        </p:txBody>
      </p:sp>
      <p:pic>
        <p:nvPicPr>
          <p:cNvPr id="3" name="Picture 2">
            <a:extLst>
              <a:ext uri="{FF2B5EF4-FFF2-40B4-BE49-F238E27FC236}">
                <a16:creationId xmlns:a16="http://schemas.microsoft.com/office/drawing/2014/main" id="{60C46BE2-89AE-23F2-9721-B1043547CD7A}"/>
              </a:ext>
            </a:extLst>
          </p:cNvPr>
          <p:cNvPicPr>
            <a:picLocks noChangeAspect="1"/>
          </p:cNvPicPr>
          <p:nvPr/>
        </p:nvPicPr>
        <p:blipFill>
          <a:blip r:embed="rId3"/>
          <a:stretch>
            <a:fillRect/>
          </a:stretch>
        </p:blipFill>
        <p:spPr>
          <a:xfrm>
            <a:off x="807165" y="1909214"/>
            <a:ext cx="5009976" cy="3294500"/>
          </a:xfrm>
          <a:prstGeom prst="rect">
            <a:avLst/>
          </a:prstGeom>
          <a:ln>
            <a:solidFill>
              <a:schemeClr val="tx1"/>
            </a:solidFill>
          </a:ln>
        </p:spPr>
      </p:pic>
      <p:pic>
        <p:nvPicPr>
          <p:cNvPr id="6" name="Picture 5">
            <a:extLst>
              <a:ext uri="{FF2B5EF4-FFF2-40B4-BE49-F238E27FC236}">
                <a16:creationId xmlns:a16="http://schemas.microsoft.com/office/drawing/2014/main" id="{FCBFBB5D-3199-EF14-2F6D-A299DDAA85DD}"/>
              </a:ext>
            </a:extLst>
          </p:cNvPr>
          <p:cNvPicPr>
            <a:picLocks noChangeAspect="1"/>
          </p:cNvPicPr>
          <p:nvPr/>
        </p:nvPicPr>
        <p:blipFill>
          <a:blip r:embed="rId4"/>
          <a:stretch>
            <a:fillRect/>
          </a:stretch>
        </p:blipFill>
        <p:spPr>
          <a:xfrm>
            <a:off x="6096000" y="1909213"/>
            <a:ext cx="5522477" cy="3294501"/>
          </a:xfrm>
          <a:prstGeom prst="rect">
            <a:avLst/>
          </a:prstGeom>
          <a:ln>
            <a:solidFill>
              <a:schemeClr val="tx1"/>
            </a:solidFill>
          </a:ln>
        </p:spPr>
      </p:pic>
      <p:sp>
        <p:nvSpPr>
          <p:cNvPr id="11" name="TextBox 10">
            <a:extLst>
              <a:ext uri="{FF2B5EF4-FFF2-40B4-BE49-F238E27FC236}">
                <a16:creationId xmlns:a16="http://schemas.microsoft.com/office/drawing/2014/main" id="{ED84B8D1-2DC7-D295-5088-0E0F9D3386C4}"/>
              </a:ext>
            </a:extLst>
          </p:cNvPr>
          <p:cNvSpPr txBox="1"/>
          <p:nvPr/>
        </p:nvSpPr>
        <p:spPr>
          <a:xfrm>
            <a:off x="675957" y="5582629"/>
            <a:ext cx="8886332" cy="646331"/>
          </a:xfrm>
          <a:prstGeom prst="rect">
            <a:avLst/>
          </a:prstGeom>
          <a:noFill/>
        </p:spPr>
        <p:txBody>
          <a:bodyPr wrap="square">
            <a:spAutoFit/>
          </a:bodyPr>
          <a:lstStyle/>
          <a:p>
            <a:pPr>
              <a:buNone/>
            </a:pPr>
            <a:r>
              <a:rPr lang="en-IN" dirty="0"/>
              <a:t>Sugarcane and Chilli were the most profitable crops, with average profits of approximately </a:t>
            </a:r>
            <a:r>
              <a:rPr lang="en-IN" b="1" dirty="0"/>
              <a:t>₹8.17 lakh</a:t>
            </a:r>
            <a:r>
              <a:rPr lang="en-IN" dirty="0"/>
              <a:t> and </a:t>
            </a:r>
            <a:r>
              <a:rPr lang="en-IN" b="1" dirty="0"/>
              <a:t>₹7.51 lakh</a:t>
            </a:r>
            <a:r>
              <a:rPr lang="en-IN" dirty="0"/>
              <a:t>, respectively.</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367330" y="1279250"/>
            <a:ext cx="4275138" cy="477520"/>
          </a:xfrm>
        </p:spPr>
        <p:txBody>
          <a:bodyPr/>
          <a:lstStyle/>
          <a:p>
            <a:pPr marL="0" indent="0">
              <a:buNone/>
            </a:pPr>
            <a:r>
              <a:rPr lang="en-IN" b="1" dirty="0"/>
              <a:t>Water Efficiency </a:t>
            </a:r>
          </a:p>
        </p:txBody>
      </p:sp>
      <p:pic>
        <p:nvPicPr>
          <p:cNvPr id="3" name="Picture 2">
            <a:extLst>
              <a:ext uri="{FF2B5EF4-FFF2-40B4-BE49-F238E27FC236}">
                <a16:creationId xmlns:a16="http://schemas.microsoft.com/office/drawing/2014/main" id="{6785EACA-FF34-C41A-B544-03A9209E0B1D}"/>
              </a:ext>
            </a:extLst>
          </p:cNvPr>
          <p:cNvPicPr>
            <a:picLocks noChangeAspect="1"/>
          </p:cNvPicPr>
          <p:nvPr/>
        </p:nvPicPr>
        <p:blipFill>
          <a:blip r:embed="rId3"/>
          <a:stretch>
            <a:fillRect/>
          </a:stretch>
        </p:blipFill>
        <p:spPr>
          <a:xfrm>
            <a:off x="460540" y="1948132"/>
            <a:ext cx="4695120" cy="3634497"/>
          </a:xfrm>
          <a:prstGeom prst="rect">
            <a:avLst/>
          </a:prstGeom>
          <a:ln>
            <a:solidFill>
              <a:schemeClr val="tx1"/>
            </a:solidFill>
          </a:ln>
        </p:spPr>
      </p:pic>
      <p:pic>
        <p:nvPicPr>
          <p:cNvPr id="6" name="Picture 5">
            <a:extLst>
              <a:ext uri="{FF2B5EF4-FFF2-40B4-BE49-F238E27FC236}">
                <a16:creationId xmlns:a16="http://schemas.microsoft.com/office/drawing/2014/main" id="{9648244D-1B19-9C0B-BB3A-6C9568769BFD}"/>
              </a:ext>
            </a:extLst>
          </p:cNvPr>
          <p:cNvPicPr>
            <a:picLocks noChangeAspect="1"/>
          </p:cNvPicPr>
          <p:nvPr/>
        </p:nvPicPr>
        <p:blipFill>
          <a:blip r:embed="rId4"/>
          <a:stretch>
            <a:fillRect/>
          </a:stretch>
        </p:blipFill>
        <p:spPr>
          <a:xfrm>
            <a:off x="5369689" y="1948132"/>
            <a:ext cx="4866529" cy="3634497"/>
          </a:xfrm>
          <a:prstGeom prst="rect">
            <a:avLst/>
          </a:prstGeom>
          <a:ln>
            <a:solidFill>
              <a:schemeClr val="tx1"/>
            </a:solidFill>
          </a:ln>
        </p:spPr>
      </p:pic>
      <p:sp>
        <p:nvSpPr>
          <p:cNvPr id="11" name="TextBox 10">
            <a:extLst>
              <a:ext uri="{FF2B5EF4-FFF2-40B4-BE49-F238E27FC236}">
                <a16:creationId xmlns:a16="http://schemas.microsoft.com/office/drawing/2014/main" id="{62453CF5-0CEB-A144-9508-39F937B3A618}"/>
              </a:ext>
            </a:extLst>
          </p:cNvPr>
          <p:cNvSpPr txBox="1"/>
          <p:nvPr/>
        </p:nvSpPr>
        <p:spPr>
          <a:xfrm>
            <a:off x="675957" y="5827267"/>
            <a:ext cx="7933022" cy="646331"/>
          </a:xfrm>
          <a:prstGeom prst="rect">
            <a:avLst/>
          </a:prstGeom>
          <a:noFill/>
        </p:spPr>
        <p:txBody>
          <a:bodyPr wrap="square">
            <a:spAutoFit/>
          </a:bodyPr>
          <a:lstStyle/>
          <a:p>
            <a:r>
              <a:rPr lang="en-IN" dirty="0"/>
              <a:t>Water-use efficiency showed a </a:t>
            </a:r>
            <a:r>
              <a:rPr lang="en-IN" b="1" dirty="0"/>
              <a:t>very strong positive correlation with yield (r = 0.92)</a:t>
            </a:r>
            <a:r>
              <a:rPr lang="en-IN" dirty="0"/>
              <a:t>, highlighting the importance of efficient water utilization.</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IN" b="1" dirty="0"/>
              <a:t>Irrigation Analysis</a:t>
            </a:r>
          </a:p>
        </p:txBody>
      </p:sp>
      <p:pic>
        <p:nvPicPr>
          <p:cNvPr id="3" name="Picture 2">
            <a:extLst>
              <a:ext uri="{FF2B5EF4-FFF2-40B4-BE49-F238E27FC236}">
                <a16:creationId xmlns:a16="http://schemas.microsoft.com/office/drawing/2014/main" id="{0269A0D4-4392-1BCB-DA6A-D84675D1DBEE}"/>
              </a:ext>
            </a:extLst>
          </p:cNvPr>
          <p:cNvPicPr>
            <a:picLocks noChangeAspect="1"/>
          </p:cNvPicPr>
          <p:nvPr/>
        </p:nvPicPr>
        <p:blipFill>
          <a:blip r:embed="rId3"/>
          <a:stretch>
            <a:fillRect/>
          </a:stretch>
        </p:blipFill>
        <p:spPr>
          <a:xfrm>
            <a:off x="675957" y="2184318"/>
            <a:ext cx="4877223" cy="3398312"/>
          </a:xfrm>
          <a:prstGeom prst="rect">
            <a:avLst/>
          </a:prstGeom>
          <a:ln>
            <a:solidFill>
              <a:schemeClr val="tx1"/>
            </a:solidFill>
          </a:ln>
        </p:spPr>
      </p:pic>
      <p:pic>
        <p:nvPicPr>
          <p:cNvPr id="6" name="Picture 5">
            <a:extLst>
              <a:ext uri="{FF2B5EF4-FFF2-40B4-BE49-F238E27FC236}">
                <a16:creationId xmlns:a16="http://schemas.microsoft.com/office/drawing/2014/main" id="{54BC8EF5-2E77-C01C-A506-9F3C31CE1524}"/>
              </a:ext>
            </a:extLst>
          </p:cNvPr>
          <p:cNvPicPr>
            <a:picLocks noChangeAspect="1"/>
          </p:cNvPicPr>
          <p:nvPr/>
        </p:nvPicPr>
        <p:blipFill>
          <a:blip r:embed="rId4"/>
          <a:stretch>
            <a:fillRect/>
          </a:stretch>
        </p:blipFill>
        <p:spPr>
          <a:xfrm>
            <a:off x="5669817" y="2184317"/>
            <a:ext cx="5696493" cy="3398312"/>
          </a:xfrm>
          <a:prstGeom prst="rect">
            <a:avLst/>
          </a:prstGeom>
          <a:ln>
            <a:solidFill>
              <a:schemeClr val="tx1"/>
            </a:solidFill>
          </a:ln>
        </p:spPr>
      </p:pic>
      <p:sp>
        <p:nvSpPr>
          <p:cNvPr id="11" name="TextBox 10">
            <a:extLst>
              <a:ext uri="{FF2B5EF4-FFF2-40B4-BE49-F238E27FC236}">
                <a16:creationId xmlns:a16="http://schemas.microsoft.com/office/drawing/2014/main" id="{60BFE258-1632-E7B0-1EA3-8F7A0D23CFA2}"/>
              </a:ext>
            </a:extLst>
          </p:cNvPr>
          <p:cNvSpPr txBox="1"/>
          <p:nvPr/>
        </p:nvSpPr>
        <p:spPr>
          <a:xfrm>
            <a:off x="530156" y="5857734"/>
            <a:ext cx="9129409" cy="646331"/>
          </a:xfrm>
          <a:prstGeom prst="rect">
            <a:avLst/>
          </a:prstGeom>
          <a:noFill/>
        </p:spPr>
        <p:txBody>
          <a:bodyPr wrap="square">
            <a:spAutoFit/>
          </a:bodyPr>
          <a:lstStyle/>
          <a:p>
            <a:r>
              <a:rPr lang="en-IN" dirty="0"/>
              <a:t>Drip irrigation recorded the highest average yield in Kharif and Rabi, while Sprinkler recorded the highest yield in Zaid.</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451182" y="766601"/>
            <a:ext cx="5550783" cy="1266480"/>
          </a:xfrm>
        </p:spPr>
        <p:txBody>
          <a:bodyPr>
            <a:normAutofit/>
          </a:bodyPr>
          <a:lstStyle/>
          <a:p>
            <a:r>
              <a:rPr lang="en-IN" sz="44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DCD87F5-6F1A-40B4-2ED2-F1201236F94B}"/>
              </a:ext>
            </a:extLst>
          </p:cNvPr>
          <p:cNvSpPr txBox="1"/>
          <p:nvPr/>
        </p:nvSpPr>
        <p:spPr>
          <a:xfrm>
            <a:off x="487069" y="2127993"/>
            <a:ext cx="9849371" cy="2677656"/>
          </a:xfrm>
          <a:prstGeom prst="rect">
            <a:avLst/>
          </a:prstGeom>
          <a:noFill/>
        </p:spPr>
        <p:txBody>
          <a:bodyPr wrap="square">
            <a:spAutoFit/>
          </a:bodyPr>
          <a:lstStyle/>
          <a:p>
            <a:pPr marL="342900" lvl="0" indent="-342900">
              <a:buFont typeface="Arial" panose="020B0604020202020204" pitchFamily="34" charset="0"/>
              <a:buChar char="•"/>
            </a:pPr>
            <a:r>
              <a:rPr lang="en-IN" sz="2800" dirty="0"/>
              <a:t>Develop ML models for </a:t>
            </a:r>
            <a:r>
              <a:rPr lang="en-IN" sz="2800" b="1" dirty="0"/>
              <a:t>yield and profit prediction</a:t>
            </a:r>
            <a:r>
              <a:rPr lang="en-IN" sz="2800" dirty="0"/>
              <a:t> </a:t>
            </a:r>
          </a:p>
          <a:p>
            <a:pPr marL="342900" lvl="0" indent="-342900">
              <a:buFont typeface="Arial" panose="020B0604020202020204" pitchFamily="34" charset="0"/>
              <a:buChar char="•"/>
            </a:pPr>
            <a:r>
              <a:rPr lang="en-IN" sz="2800" dirty="0"/>
              <a:t>Build a </a:t>
            </a:r>
            <a:r>
              <a:rPr lang="en-IN" sz="2800" b="1" dirty="0"/>
              <a:t>crop recommendation system</a:t>
            </a:r>
            <a:r>
              <a:rPr lang="en-IN" sz="2800" dirty="0"/>
              <a:t> </a:t>
            </a:r>
          </a:p>
          <a:p>
            <a:pPr marL="342900" lvl="0" indent="-342900">
              <a:buFont typeface="Arial" panose="020B0604020202020204" pitchFamily="34" charset="0"/>
              <a:buChar char="•"/>
            </a:pPr>
            <a:r>
              <a:rPr lang="en-IN" sz="2800" dirty="0"/>
              <a:t>Integrate </a:t>
            </a:r>
            <a:r>
              <a:rPr lang="en-IN" sz="2800" b="1" dirty="0"/>
              <a:t>real-time weather and soil data</a:t>
            </a:r>
            <a:r>
              <a:rPr lang="en-IN" sz="2800" dirty="0"/>
              <a:t> </a:t>
            </a:r>
          </a:p>
          <a:p>
            <a:pPr marL="342900" lvl="0" indent="-342900">
              <a:buFont typeface="Arial" panose="020B0604020202020204" pitchFamily="34" charset="0"/>
              <a:buChar char="•"/>
            </a:pPr>
            <a:r>
              <a:rPr lang="en-IN" sz="2800" dirty="0"/>
              <a:t>Include </a:t>
            </a:r>
            <a:r>
              <a:rPr lang="en-IN" sz="2800" b="1" dirty="0"/>
              <a:t>market-price forecasting</a:t>
            </a:r>
            <a:r>
              <a:rPr lang="en-IN" sz="2800" dirty="0"/>
              <a:t> </a:t>
            </a:r>
          </a:p>
          <a:p>
            <a:pPr marL="342900" lvl="0" indent="-342900">
              <a:buFont typeface="Arial" panose="020B0604020202020204" pitchFamily="34" charset="0"/>
              <a:buChar char="•"/>
            </a:pPr>
            <a:r>
              <a:rPr lang="en-IN" sz="2800" dirty="0"/>
              <a:t>Develop an </a:t>
            </a:r>
            <a:r>
              <a:rPr lang="en-IN" sz="2800" b="1" dirty="0"/>
              <a:t>interactive agricultural dashboard</a:t>
            </a:r>
            <a:r>
              <a:rPr lang="en-IN" sz="2800" dirty="0"/>
              <a:t> </a:t>
            </a:r>
          </a:p>
          <a:p>
            <a:pPr marL="342900" lvl="0" indent="-342900">
              <a:buFont typeface="Arial" panose="020B0604020202020204" pitchFamily="34" charset="0"/>
              <a:buChar char="•"/>
            </a:pPr>
            <a:r>
              <a:rPr lang="en-IN" sz="2800" dirty="0"/>
              <a:t>Expand analysis to </a:t>
            </a:r>
            <a:r>
              <a:rPr lang="en-IN" sz="2800" b="1" dirty="0"/>
              <a:t>larger multi-year datasets</a:t>
            </a:r>
            <a:r>
              <a:rPr lang="en-IN" sz="2800" dirty="0"/>
              <a:t>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hlinkClick r:id="rId3"/>
              </a:rPr>
              <a:t>https://github.com/JAHNAVI-SAMALA/seasonal-agriculture-performance-analysis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2294CFC-179C-9371-B430-71F13864E7D0}"/>
              </a:ext>
            </a:extLst>
          </p:cNvPr>
          <p:cNvPicPr>
            <a:picLocks noChangeAspect="1"/>
          </p:cNvPicPr>
          <p:nvPr/>
        </p:nvPicPr>
        <p:blipFill>
          <a:blip r:embed="rId3"/>
          <a:stretch>
            <a:fillRect/>
          </a:stretch>
        </p:blipFill>
        <p:spPr>
          <a:xfrm>
            <a:off x="752553" y="1581980"/>
            <a:ext cx="8459542" cy="476045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73838" y="1729294"/>
            <a:ext cx="11340000" cy="700114"/>
          </a:xfrm>
          <a:prstGeom prst="rect">
            <a:avLst/>
          </a:prstGeom>
        </p:spPr>
        <p:txBody>
          <a:bodyPr anchor="ctr">
            <a:noAutofit/>
          </a:bodyPr>
          <a:lstStyle/>
          <a:p>
            <a:pPr algn="ctr"/>
            <a:r>
              <a:rPr lang="en-US" sz="66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989383" y="3150637"/>
            <a:ext cx="7645939" cy="1378571"/>
          </a:xfrm>
        </p:spPr>
        <p:txBody>
          <a:bodyPr>
            <a:normAutofit/>
          </a:bodyPr>
          <a:lstStyle/>
          <a:p>
            <a:r>
              <a:rPr lang="en-IN" i="1" dirty="0"/>
              <a:t>FarmStats- Seasonal Agriculture Performance Analysis</a:t>
            </a:r>
            <a:br>
              <a:rPr lang="en-IN" dirty="0"/>
            </a:br>
            <a:r>
              <a:rPr lang="en-IN" dirty="0"/>
              <a:t>Samala Jahnavi</a:t>
            </a:r>
            <a:br>
              <a:rPr lang="en-IN" dirty="0"/>
            </a:br>
            <a:r>
              <a:rPr lang="en-IN" dirty="0"/>
              <a:t>B.Tech – CSE | Sridevi Women’s Engineering College</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1428</TotalTime>
  <Words>420</Words>
  <Application>Microsoft Office PowerPoint</Application>
  <PresentationFormat>Widescreen</PresentationFormat>
  <Paragraphs>65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FarmStats -SEASONAL AGRICULTURE PERFORMANCE ANALYSIS</vt:lpstr>
      <vt:lpstr>PROBLEM  STATEMENT</vt:lpstr>
      <vt:lpstr> Seasonal Agriculture Performance Analysis is a data-driven study of agricultural performance across Kharif, Rabi and Zaid seasons. The project involves data cleaning, exploratory analysis, statistical analysis and visualization to study crop yield, production, profitability, environmental conditions, resource utilization and irrigation practices. The analysis identifies high-performing crop-season combinations and provides evidence-based recommendations for better agricultural planning.</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SAMALA JAHNAVI</cp:lastModifiedBy>
  <cp:revision>101</cp:revision>
  <dcterms:created xsi:type="dcterms:W3CDTF">2021-07-11T13:13:15Z</dcterms:created>
  <dcterms:modified xsi:type="dcterms:W3CDTF">2026-09-09T07:43:15Z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